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5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5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2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1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88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7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6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36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9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5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9704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893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304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427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499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2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468F-601D-468A-9147-F09A8977864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900B0D-DF11-49F6-8EBF-E4E5BDB115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20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C007-BD9F-EBD8-B65D-71CEAF06C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1061885"/>
            <a:ext cx="7236542" cy="806244"/>
          </a:xfrm>
        </p:spPr>
        <p:txBody>
          <a:bodyPr/>
          <a:lstStyle/>
          <a:p>
            <a:br>
              <a:rPr lang="en-US" sz="32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95353D-9A83-C363-D08C-AC08CF76E7E5}"/>
              </a:ext>
            </a:extLst>
          </p:cNvPr>
          <p:cNvSpPr txBox="1"/>
          <p:nvPr/>
        </p:nvSpPr>
        <p:spPr>
          <a:xfrm>
            <a:off x="707924" y="707923"/>
            <a:ext cx="8744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Chatterbox: A Real-time WebSocket Chat Application</a:t>
            </a:r>
            <a:endParaRPr lang="en-IN" sz="4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B5FDAF-A6A7-21BA-2640-796210D71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2" y="2385324"/>
            <a:ext cx="7934631" cy="41924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9961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0F6D-24DA-55C7-3F40-23628E6B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8C530-1740-AC10-650A-22A0A3704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8596668" cy="4468201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Real-time applications such as chat systems require continuous communication between clients and servers.</a:t>
            </a:r>
          </a:p>
          <a:p>
            <a:r>
              <a:rPr lang="en-US" dirty="0">
                <a:solidFill>
                  <a:srgbClr val="000000"/>
                </a:solidFill>
              </a:rPr>
              <a:t>Traditional web applications use HTTP request-response architecture, which:</a:t>
            </a:r>
          </a:p>
          <a:p>
            <a:r>
              <a:rPr lang="en-US" dirty="0">
                <a:solidFill>
                  <a:srgbClr val="000000"/>
                </a:solidFill>
              </a:rPr>
              <a:t>Is stateless</a:t>
            </a:r>
          </a:p>
          <a:p>
            <a:r>
              <a:rPr lang="en-US" dirty="0">
                <a:solidFill>
                  <a:srgbClr val="000000"/>
                </a:solidFill>
              </a:rPr>
              <a:t>Does not support persistent connections</a:t>
            </a:r>
          </a:p>
          <a:p>
            <a:r>
              <a:rPr lang="en-US" dirty="0">
                <a:solidFill>
                  <a:srgbClr val="000000"/>
                </a:solidFill>
              </a:rPr>
              <a:t>Introduces latency for live updates</a:t>
            </a:r>
          </a:p>
          <a:p>
            <a:r>
              <a:rPr lang="en-US" dirty="0">
                <a:solidFill>
                  <a:srgbClr val="000000"/>
                </a:solidFill>
              </a:rPr>
              <a:t>To overcome these limitations, this project implements a real-time chat system using </a:t>
            </a:r>
            <a:r>
              <a:rPr lang="en-US" dirty="0" err="1">
                <a:solidFill>
                  <a:srgbClr val="000000"/>
                </a:solidFill>
              </a:rPr>
              <a:t>WebSockets</a:t>
            </a:r>
            <a:r>
              <a:rPr lang="en-US" dirty="0">
                <a:solidFill>
                  <a:srgbClr val="000000"/>
                </a:solidFill>
              </a:rPr>
              <a:t> and JWT authentication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81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76E0-2447-1C32-86A6-14F4A781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913F-322A-731B-4725-38870A097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6851"/>
            <a:ext cx="8596668" cy="4468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Traditional HTTP-based systems are inefficient for:</a:t>
            </a:r>
          </a:p>
          <a:p>
            <a:r>
              <a:rPr lang="en-US" dirty="0">
                <a:solidFill>
                  <a:srgbClr val="000000"/>
                </a:solidFill>
              </a:rPr>
              <a:t>Instant messaging applications</a:t>
            </a:r>
          </a:p>
          <a:p>
            <a:r>
              <a:rPr lang="en-US" dirty="0">
                <a:solidFill>
                  <a:srgbClr val="000000"/>
                </a:solidFill>
              </a:rPr>
              <a:t>Live collaboration tools</a:t>
            </a:r>
          </a:p>
          <a:p>
            <a:r>
              <a:rPr lang="en-US" dirty="0">
                <a:solidFill>
                  <a:srgbClr val="000000"/>
                </a:solidFill>
              </a:rPr>
              <a:t>Real-time dashboards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Challenges:</a:t>
            </a:r>
          </a:p>
          <a:p>
            <a:r>
              <a:rPr lang="en-US" dirty="0">
                <a:solidFill>
                  <a:srgbClr val="000000"/>
                </a:solidFill>
              </a:rPr>
              <a:t>No persistent connection</a:t>
            </a:r>
          </a:p>
          <a:p>
            <a:r>
              <a:rPr lang="en-US" dirty="0">
                <a:solidFill>
                  <a:srgbClr val="000000"/>
                </a:solidFill>
              </a:rPr>
              <a:t>High server load due to polling</a:t>
            </a:r>
          </a:p>
          <a:p>
            <a:r>
              <a:rPr lang="en-US" dirty="0">
                <a:solidFill>
                  <a:srgbClr val="000000"/>
                </a:solidFill>
              </a:rPr>
              <a:t>No built-in multi-user broadcasting</a:t>
            </a:r>
          </a:p>
          <a:p>
            <a:r>
              <a:rPr lang="en-US" dirty="0">
                <a:solidFill>
                  <a:srgbClr val="000000"/>
                </a:solidFill>
              </a:rPr>
              <a:t>Security concerns in real-time systems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Therefore, a scalable and secure real-time architecture is required.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80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6E09-9511-3EEB-D9C1-893AC81F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CCBD-A0AE-A761-3996-F3E2D8247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92" y="1403016"/>
            <a:ext cx="8596668" cy="4409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Develop a real-time chat application using:</a:t>
            </a:r>
          </a:p>
          <a:p>
            <a:r>
              <a:rPr lang="en-IN" dirty="0" err="1">
                <a:solidFill>
                  <a:srgbClr val="000000"/>
                </a:solidFill>
              </a:rPr>
              <a:t>FastAPI</a:t>
            </a:r>
            <a:r>
              <a:rPr lang="en-IN" dirty="0">
                <a:solidFill>
                  <a:srgbClr val="000000"/>
                </a:solidFill>
              </a:rPr>
              <a:t> (Asynchronous backend framework)</a:t>
            </a:r>
          </a:p>
          <a:p>
            <a:r>
              <a:rPr lang="en-IN" dirty="0">
                <a:solidFill>
                  <a:srgbClr val="000000"/>
                </a:solidFill>
              </a:rPr>
              <a:t>WebSocket protocol (Persistent communication)</a:t>
            </a:r>
          </a:p>
          <a:p>
            <a:r>
              <a:rPr lang="en-IN" dirty="0">
                <a:solidFill>
                  <a:srgbClr val="000000"/>
                </a:solidFill>
              </a:rPr>
              <a:t>JWT (Secure authentication mechanism)</a:t>
            </a:r>
          </a:p>
          <a:p>
            <a:r>
              <a:rPr lang="en-IN" dirty="0">
                <a:solidFill>
                  <a:srgbClr val="000000"/>
                </a:solidFill>
              </a:rPr>
              <a:t>SQLite database (Data persistence)</a:t>
            </a:r>
          </a:p>
          <a:p>
            <a:r>
              <a:rPr lang="en-IN" dirty="0">
                <a:solidFill>
                  <a:srgbClr val="000000"/>
                </a:solidFill>
              </a:rPr>
              <a:t>HTML, CSS, JavaScript (Frontend UI)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This ensures:</a:t>
            </a:r>
          </a:p>
          <a:p>
            <a:r>
              <a:rPr lang="en-IN" dirty="0">
                <a:solidFill>
                  <a:srgbClr val="000000"/>
                </a:solidFill>
              </a:rPr>
              <a:t>Instant message delivery</a:t>
            </a:r>
          </a:p>
          <a:p>
            <a:r>
              <a:rPr lang="en-IN" dirty="0">
                <a:solidFill>
                  <a:srgbClr val="000000"/>
                </a:solidFill>
              </a:rPr>
              <a:t>Secure user authentication</a:t>
            </a:r>
          </a:p>
          <a:p>
            <a:r>
              <a:rPr lang="en-IN" dirty="0">
                <a:solidFill>
                  <a:srgbClr val="000000"/>
                </a:solidFill>
              </a:rPr>
              <a:t>Persistent chat storage</a:t>
            </a:r>
          </a:p>
          <a:p>
            <a:r>
              <a:rPr lang="en-IN" dirty="0">
                <a:solidFill>
                  <a:srgbClr val="000000"/>
                </a:solidFill>
              </a:rPr>
              <a:t>Multi-user support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FF3B1-21C2-AE47-B1BD-92632CD3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26" y="816638"/>
            <a:ext cx="5240595" cy="446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7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BBCC-F2D7-654E-90F4-30231FBC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2787"/>
            <a:ext cx="8596668" cy="681328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715DE-B269-BF09-B3F3-6A8D55CC2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417348"/>
            <a:ext cx="9390062" cy="512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7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909F-5F32-CE39-66DD-338B2E00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Authentication Mechanism (JWT)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7CEE8-750E-7630-3B2B-D99B4F6B0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516"/>
            <a:ext cx="8596668" cy="4419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We implemented JWT-based authentication.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Flow:</a:t>
            </a:r>
          </a:p>
          <a:p>
            <a:r>
              <a:rPr lang="en-IN" dirty="0">
                <a:solidFill>
                  <a:srgbClr val="000000"/>
                </a:solidFill>
              </a:rPr>
              <a:t>User logs in</a:t>
            </a:r>
          </a:p>
          <a:p>
            <a:r>
              <a:rPr lang="en-IN" dirty="0">
                <a:solidFill>
                  <a:srgbClr val="000000"/>
                </a:solidFill>
              </a:rPr>
              <a:t>Server generates JWT token</a:t>
            </a:r>
          </a:p>
          <a:p>
            <a:r>
              <a:rPr lang="en-IN" dirty="0">
                <a:solidFill>
                  <a:srgbClr val="000000"/>
                </a:solidFill>
              </a:rPr>
              <a:t>Token stored in browser</a:t>
            </a:r>
          </a:p>
          <a:p>
            <a:r>
              <a:rPr lang="en-IN" dirty="0">
                <a:solidFill>
                  <a:srgbClr val="000000"/>
                </a:solidFill>
              </a:rPr>
              <a:t>Token passed during WebSocket connection</a:t>
            </a:r>
          </a:p>
          <a:p>
            <a:r>
              <a:rPr lang="en-IN" dirty="0">
                <a:solidFill>
                  <a:srgbClr val="000000"/>
                </a:solidFill>
              </a:rPr>
              <a:t>Server validates token before allowing chat access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Advantages:</a:t>
            </a:r>
          </a:p>
          <a:p>
            <a:r>
              <a:rPr lang="en-IN" dirty="0">
                <a:solidFill>
                  <a:srgbClr val="000000"/>
                </a:solidFill>
              </a:rPr>
              <a:t>Stateless authentication</a:t>
            </a:r>
          </a:p>
          <a:p>
            <a:r>
              <a:rPr lang="en-IN" dirty="0">
                <a:solidFill>
                  <a:srgbClr val="000000"/>
                </a:solidFill>
              </a:rPr>
              <a:t>Secure access control</a:t>
            </a:r>
          </a:p>
          <a:p>
            <a:r>
              <a:rPr lang="en-IN" dirty="0">
                <a:solidFill>
                  <a:srgbClr val="000000"/>
                </a:solidFill>
              </a:rPr>
              <a:t>Scalable session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77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C04C-8E9F-4C56-5785-E38F7E08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322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0000"/>
                </a:solidFill>
              </a:rPr>
              <a:t>Backend Modules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8982-DE4E-2039-C38F-79AB7299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8530"/>
            <a:ext cx="8596668" cy="4596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1️⃣ </a:t>
            </a:r>
            <a:r>
              <a:rPr lang="en-IN" dirty="0" err="1">
                <a:solidFill>
                  <a:srgbClr val="000000"/>
                </a:solidFill>
              </a:rPr>
              <a:t>FastAPI</a:t>
            </a:r>
            <a:r>
              <a:rPr lang="en-IN" dirty="0">
                <a:solidFill>
                  <a:srgbClr val="000000"/>
                </a:solidFill>
              </a:rPr>
              <a:t> Server</a:t>
            </a:r>
          </a:p>
          <a:p>
            <a:r>
              <a:rPr lang="en-IN" dirty="0">
                <a:solidFill>
                  <a:srgbClr val="000000"/>
                </a:solidFill>
              </a:rPr>
              <a:t>Handles HTTP and WebSocket endpoints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2️⃣ WebSocket Manager</a:t>
            </a:r>
          </a:p>
          <a:p>
            <a:r>
              <a:rPr lang="en-IN" dirty="0">
                <a:solidFill>
                  <a:srgbClr val="000000"/>
                </a:solidFill>
              </a:rPr>
              <a:t>Tracks active connections</a:t>
            </a:r>
          </a:p>
          <a:p>
            <a:r>
              <a:rPr lang="en-IN" dirty="0">
                <a:solidFill>
                  <a:srgbClr val="000000"/>
                </a:solidFill>
              </a:rPr>
              <a:t>Broadcasts messages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3️⃣ Authentication Module</a:t>
            </a:r>
          </a:p>
          <a:p>
            <a:r>
              <a:rPr lang="en-IN" dirty="0">
                <a:solidFill>
                  <a:srgbClr val="000000"/>
                </a:solidFill>
              </a:rPr>
              <a:t>Password hashing (</a:t>
            </a:r>
            <a:r>
              <a:rPr lang="en-IN" dirty="0" err="1">
                <a:solidFill>
                  <a:srgbClr val="000000"/>
                </a:solidFill>
              </a:rPr>
              <a:t>bcrypt</a:t>
            </a:r>
            <a:r>
              <a:rPr lang="en-IN" dirty="0">
                <a:solidFill>
                  <a:srgbClr val="000000"/>
                </a:solidFill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</a:rPr>
              <a:t>JWT token generation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4️⃣ Database Module</a:t>
            </a:r>
          </a:p>
          <a:p>
            <a:r>
              <a:rPr lang="en-IN" dirty="0">
                <a:solidFill>
                  <a:srgbClr val="000000"/>
                </a:solidFill>
              </a:rPr>
              <a:t>Stores users</a:t>
            </a:r>
          </a:p>
          <a:p>
            <a:r>
              <a:rPr lang="en-IN" dirty="0">
                <a:solidFill>
                  <a:srgbClr val="000000"/>
                </a:solidFill>
              </a:rPr>
              <a:t>Stores chat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98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6C0D-0159-4A62-9B48-9310B979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Frontend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DC91-9C40-941A-A677-61597205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9310"/>
            <a:ext cx="8596668" cy="4316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Frontend consists of:</a:t>
            </a:r>
          </a:p>
          <a:p>
            <a:r>
              <a:rPr lang="en-IN" dirty="0">
                <a:solidFill>
                  <a:srgbClr val="000000"/>
                </a:solidFill>
              </a:rPr>
              <a:t>Login &amp; Registration Page</a:t>
            </a:r>
          </a:p>
          <a:p>
            <a:r>
              <a:rPr lang="en-IN" dirty="0">
                <a:solidFill>
                  <a:srgbClr val="000000"/>
                </a:solidFill>
              </a:rPr>
              <a:t>Chat Interface Page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Features:</a:t>
            </a:r>
          </a:p>
          <a:p>
            <a:r>
              <a:rPr lang="en-IN" dirty="0">
                <a:solidFill>
                  <a:srgbClr val="000000"/>
                </a:solidFill>
              </a:rPr>
              <a:t>Token stored in </a:t>
            </a:r>
            <a:r>
              <a:rPr lang="en-IN" dirty="0" err="1">
                <a:solidFill>
                  <a:srgbClr val="000000"/>
                </a:solidFill>
              </a:rPr>
              <a:t>localStorage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Automatic redirection after login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Message differentiation: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Current user → Right side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Other users → Left side</a:t>
            </a:r>
          </a:p>
          <a:p>
            <a:r>
              <a:rPr lang="en-IN" dirty="0">
                <a:solidFill>
                  <a:srgbClr val="000000"/>
                </a:solidFill>
              </a:rPr>
              <a:t>Modern minimal UI for better user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78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0840-A00F-0535-6765-0C07D3CD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WebSocket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ACE5-EDD6-1EDD-6B50-D025D058D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1"/>
            <a:ext cx="8596668" cy="457635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WebSocket establishes a persistent connection between client and server.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Unlike HTTP:</a:t>
            </a:r>
          </a:p>
          <a:p>
            <a:r>
              <a:rPr lang="en-US" dirty="0">
                <a:solidFill>
                  <a:srgbClr val="000000"/>
                </a:solidFill>
              </a:rPr>
              <a:t>No repeated requests</a:t>
            </a:r>
          </a:p>
          <a:p>
            <a:r>
              <a:rPr lang="en-US" dirty="0">
                <a:solidFill>
                  <a:srgbClr val="000000"/>
                </a:solidFill>
              </a:rPr>
              <a:t>Real-time bidirectional communication</a:t>
            </a:r>
          </a:p>
          <a:p>
            <a:r>
              <a:rPr lang="en-US" dirty="0">
                <a:solidFill>
                  <a:srgbClr val="000000"/>
                </a:solidFill>
              </a:rPr>
              <a:t>Server pushes messages instantly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Broadcast Logic:</a:t>
            </a:r>
          </a:p>
          <a:p>
            <a:r>
              <a:rPr lang="en-US" dirty="0">
                <a:solidFill>
                  <a:srgbClr val="000000"/>
                </a:solidFill>
              </a:rPr>
              <a:t>When one user sends message</a:t>
            </a:r>
          </a:p>
          <a:p>
            <a:r>
              <a:rPr lang="en-US" dirty="0">
                <a:solidFill>
                  <a:srgbClr val="000000"/>
                </a:solidFill>
              </a:rPr>
              <a:t>Server sends it to all connected clients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101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36B7-A7A9-EB8F-1A46-79B84795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1445"/>
            <a:ext cx="8596668" cy="776749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DC6B-5204-F591-4BEA-F36A2B6E1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8194"/>
            <a:ext cx="8596668" cy="47631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Users Table:</a:t>
            </a:r>
          </a:p>
          <a:p>
            <a:r>
              <a:rPr lang="en-IN" dirty="0">
                <a:solidFill>
                  <a:srgbClr val="000000"/>
                </a:solidFill>
              </a:rPr>
              <a:t>id</a:t>
            </a:r>
          </a:p>
          <a:p>
            <a:r>
              <a:rPr lang="en-IN" dirty="0">
                <a:solidFill>
                  <a:srgbClr val="000000"/>
                </a:solidFill>
              </a:rPr>
              <a:t>username</a:t>
            </a:r>
          </a:p>
          <a:p>
            <a:r>
              <a:rPr lang="en-IN" dirty="0" err="1">
                <a:solidFill>
                  <a:srgbClr val="000000"/>
                </a:solidFill>
              </a:rPr>
              <a:t>hashed_password</a:t>
            </a:r>
            <a:endParaRPr lang="en-IN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Messages Table:</a:t>
            </a:r>
          </a:p>
          <a:p>
            <a:r>
              <a:rPr lang="en-IN" dirty="0">
                <a:solidFill>
                  <a:srgbClr val="000000"/>
                </a:solidFill>
              </a:rPr>
              <a:t>id</a:t>
            </a:r>
          </a:p>
          <a:p>
            <a:r>
              <a:rPr lang="en-IN" dirty="0">
                <a:solidFill>
                  <a:srgbClr val="000000"/>
                </a:solidFill>
              </a:rPr>
              <a:t>username</a:t>
            </a:r>
          </a:p>
          <a:p>
            <a:r>
              <a:rPr lang="en-IN" dirty="0">
                <a:solidFill>
                  <a:srgbClr val="000000"/>
                </a:solidFill>
              </a:rPr>
              <a:t>message</a:t>
            </a:r>
          </a:p>
          <a:p>
            <a:r>
              <a:rPr lang="en-IN" dirty="0">
                <a:solidFill>
                  <a:srgbClr val="000000"/>
                </a:solidFill>
              </a:rPr>
              <a:t>timestamp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Benefits:</a:t>
            </a:r>
          </a:p>
          <a:p>
            <a:r>
              <a:rPr lang="en-IN" dirty="0">
                <a:solidFill>
                  <a:srgbClr val="000000"/>
                </a:solidFill>
              </a:rPr>
              <a:t>Persistent chat history</a:t>
            </a:r>
          </a:p>
          <a:p>
            <a:r>
              <a:rPr lang="en-IN" dirty="0">
                <a:solidFill>
                  <a:srgbClr val="000000"/>
                </a:solidFill>
              </a:rPr>
              <a:t>User management</a:t>
            </a:r>
          </a:p>
          <a:p>
            <a:r>
              <a:rPr lang="en-IN" dirty="0">
                <a:solidFill>
                  <a:srgbClr val="000000"/>
                </a:solidFill>
              </a:rPr>
              <a:t>Scalable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93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7FEC-4CFE-2071-0C7A-DCAD5BF6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722A8-122D-4C90-99CD-728A90E8A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516"/>
            <a:ext cx="8596668" cy="4664846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Real-time multi-user chat</a:t>
            </a:r>
          </a:p>
          <a:p>
            <a:r>
              <a:rPr lang="en-IN" dirty="0">
                <a:solidFill>
                  <a:srgbClr val="000000"/>
                </a:solidFill>
              </a:rPr>
              <a:t>JWT-based secure authentication</a:t>
            </a:r>
          </a:p>
          <a:p>
            <a:r>
              <a:rPr lang="en-IN" dirty="0">
                <a:solidFill>
                  <a:srgbClr val="000000"/>
                </a:solidFill>
              </a:rPr>
              <a:t>Persistent message storage</a:t>
            </a:r>
          </a:p>
          <a:p>
            <a:r>
              <a:rPr lang="en-IN" dirty="0">
                <a:solidFill>
                  <a:srgbClr val="000000"/>
                </a:solidFill>
              </a:rPr>
              <a:t>Message alignment (Me vs Others)</a:t>
            </a:r>
          </a:p>
          <a:p>
            <a:r>
              <a:rPr lang="en-IN" dirty="0">
                <a:solidFill>
                  <a:srgbClr val="000000"/>
                </a:solidFill>
              </a:rPr>
              <a:t>Asynchronous backend</a:t>
            </a:r>
          </a:p>
          <a:p>
            <a:r>
              <a:rPr lang="en-IN" dirty="0">
                <a:solidFill>
                  <a:srgbClr val="000000"/>
                </a:solidFill>
              </a:rPr>
              <a:t>Multi-client testing supported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112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D267-540D-15E6-5632-51C8B1B5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Testing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936E-35D5-0E82-4544-445C64DEB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4" y="1474839"/>
            <a:ext cx="8596668" cy="459602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Tested with:</a:t>
            </a:r>
          </a:p>
          <a:p>
            <a:r>
              <a:rPr lang="en-IN" dirty="0">
                <a:solidFill>
                  <a:srgbClr val="000000"/>
                </a:solidFill>
              </a:rPr>
              <a:t>Multiple browser sessions</a:t>
            </a:r>
          </a:p>
          <a:p>
            <a:r>
              <a:rPr lang="en-IN" dirty="0">
                <a:solidFill>
                  <a:srgbClr val="000000"/>
                </a:solidFill>
              </a:rPr>
              <a:t>Incognito windows</a:t>
            </a:r>
          </a:p>
          <a:p>
            <a:r>
              <a:rPr lang="en-IN" dirty="0">
                <a:solidFill>
                  <a:srgbClr val="000000"/>
                </a:solidFill>
              </a:rPr>
              <a:t>Simultaneous users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Results:</a:t>
            </a:r>
          </a:p>
          <a:p>
            <a:r>
              <a:rPr lang="en-IN" dirty="0">
                <a:solidFill>
                  <a:srgbClr val="000000"/>
                </a:solidFill>
              </a:rPr>
              <a:t>Instant message broadcasting</a:t>
            </a:r>
          </a:p>
          <a:p>
            <a:r>
              <a:rPr lang="en-IN" dirty="0">
                <a:solidFill>
                  <a:srgbClr val="000000"/>
                </a:solidFill>
              </a:rPr>
              <a:t>Secure user validation</a:t>
            </a:r>
          </a:p>
          <a:p>
            <a:r>
              <a:rPr lang="en-IN" dirty="0">
                <a:solidFill>
                  <a:srgbClr val="000000"/>
                </a:solidFill>
              </a:rPr>
              <a:t>Stable WebSocket connections</a:t>
            </a:r>
          </a:p>
          <a:p>
            <a:r>
              <a:rPr lang="en-IN" dirty="0">
                <a:solidFill>
                  <a:srgbClr val="000000"/>
                </a:solidFill>
              </a:rPr>
              <a:t>Persistent chat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29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08B0-EE46-B44E-784F-8BEB75F1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5806"/>
            <a:ext cx="8596668" cy="1684594"/>
          </a:xfrm>
        </p:spPr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0D8F-C866-6ABA-762A-524EE8CCE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24231"/>
            <a:ext cx="8596668" cy="53487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Backend:</a:t>
            </a:r>
          </a:p>
          <a:p>
            <a:r>
              <a:rPr lang="en-IN" dirty="0">
                <a:solidFill>
                  <a:srgbClr val="000000"/>
                </a:solidFill>
              </a:rPr>
              <a:t>Python</a:t>
            </a:r>
          </a:p>
          <a:p>
            <a:r>
              <a:rPr lang="en-IN" dirty="0" err="1">
                <a:solidFill>
                  <a:srgbClr val="000000"/>
                </a:solidFill>
              </a:rPr>
              <a:t>FastAPI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 err="1">
                <a:solidFill>
                  <a:srgbClr val="000000"/>
                </a:solidFill>
              </a:rPr>
              <a:t>WebSockets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SQLite</a:t>
            </a:r>
          </a:p>
          <a:p>
            <a:r>
              <a:rPr lang="en-IN" dirty="0">
                <a:solidFill>
                  <a:srgbClr val="000000"/>
                </a:solidFill>
              </a:rPr>
              <a:t>JWT</a:t>
            </a:r>
          </a:p>
          <a:p>
            <a:r>
              <a:rPr lang="en-IN" dirty="0" err="1">
                <a:solidFill>
                  <a:srgbClr val="000000"/>
                </a:solidFill>
              </a:rPr>
              <a:t>bcrypt</a:t>
            </a:r>
            <a:endParaRPr lang="en-IN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Frontend:</a:t>
            </a:r>
          </a:p>
          <a:p>
            <a:r>
              <a:rPr lang="en-IN" dirty="0">
                <a:solidFill>
                  <a:srgbClr val="000000"/>
                </a:solidFill>
              </a:rPr>
              <a:t>HTML</a:t>
            </a:r>
          </a:p>
          <a:p>
            <a:r>
              <a:rPr lang="en-IN" dirty="0">
                <a:solidFill>
                  <a:srgbClr val="000000"/>
                </a:solidFill>
              </a:rPr>
              <a:t>CSS</a:t>
            </a:r>
          </a:p>
          <a:p>
            <a:r>
              <a:rPr lang="en-IN" dirty="0">
                <a:solidFill>
                  <a:srgbClr val="000000"/>
                </a:solidFill>
              </a:rPr>
              <a:t>JavaScript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</a:rPr>
              <a:t>Tools:</a:t>
            </a:r>
          </a:p>
          <a:p>
            <a:r>
              <a:rPr lang="en-IN" dirty="0">
                <a:solidFill>
                  <a:srgbClr val="000000"/>
                </a:solidFill>
              </a:rPr>
              <a:t>VS Code</a:t>
            </a:r>
          </a:p>
          <a:p>
            <a:r>
              <a:rPr lang="en-IN" dirty="0" err="1">
                <a:solidFill>
                  <a:srgbClr val="000000"/>
                </a:solidFill>
              </a:rPr>
              <a:t>Uvicorn</a:t>
            </a:r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Browser </a:t>
            </a:r>
            <a:r>
              <a:rPr lang="en-IN" dirty="0" err="1">
                <a:solidFill>
                  <a:srgbClr val="000000"/>
                </a:solidFill>
              </a:rPr>
              <a:t>DevTools</a:t>
            </a:r>
            <a:endParaRPr lang="en-IN" dirty="0">
              <a:solidFill>
                <a:srgbClr val="0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68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2574-8F77-C493-F01A-C26AF1DE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</a:rPr>
              <a:t>Advantages and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CD3A5-708B-9EA7-A69B-7A8BB6D6C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0407" y="1583564"/>
            <a:ext cx="4184034" cy="4605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Limitations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SQLite limits enterprise-scale deployment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No private chat feature</a:t>
            </a:r>
            <a:endParaRPr lang="en-US" altLang="en-US" dirty="0">
              <a:solidFill>
                <a:srgbClr val="00000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No file sharing</a:t>
            </a:r>
            <a:endParaRPr lang="en-US" altLang="en-US" dirty="0">
              <a:solidFill>
                <a:srgbClr val="00000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Basic UI (can be improved with React)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F177B7-71AA-0B2F-D5E8-D7E62AE4D52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64015" y="1583564"/>
            <a:ext cx="46602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performance asynchronous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authentication mechanism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Scalable architecture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Lightweight and efficient</a:t>
            </a:r>
          </a:p>
        </p:txBody>
      </p:sp>
    </p:spTree>
    <p:extLst>
      <p:ext uri="{BB962C8B-B14F-4D97-AF65-F5344CB8AC3E}">
        <p14:creationId xmlns:p14="http://schemas.microsoft.com/office/powerpoint/2010/main" val="384765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CAAF-C346-5E70-3932-5A641528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Future Enhancements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F48E5-3245-D4DD-FFD0-29F395D52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6105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Online users list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Private chat rooms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Typing indicators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End-to-end encryption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React-based frontend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Docker containerization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Cloud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898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CC9C-F77B-BA21-A520-891129F3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A433A-EE83-CF43-23A9-004A0FD6E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350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Chatterbox successfully demonstrates:</a:t>
            </a:r>
          </a:p>
          <a:p>
            <a:r>
              <a:rPr lang="en-US" dirty="0">
                <a:solidFill>
                  <a:srgbClr val="000000"/>
                </a:solidFill>
              </a:rPr>
              <a:t>Real-time WebSocket communication</a:t>
            </a:r>
          </a:p>
          <a:p>
            <a:r>
              <a:rPr lang="en-US" dirty="0">
                <a:solidFill>
                  <a:srgbClr val="000000"/>
                </a:solidFill>
              </a:rPr>
              <a:t>Secure JWT-based authentication</a:t>
            </a:r>
          </a:p>
          <a:p>
            <a:r>
              <a:rPr lang="en-US" dirty="0">
                <a:solidFill>
                  <a:srgbClr val="000000"/>
                </a:solidFill>
              </a:rPr>
              <a:t>Multi-user broadcasting</a:t>
            </a:r>
          </a:p>
          <a:p>
            <a:r>
              <a:rPr lang="en-US" dirty="0">
                <a:solidFill>
                  <a:srgbClr val="000000"/>
                </a:solidFill>
              </a:rPr>
              <a:t>Persistent chat history</a:t>
            </a:r>
          </a:p>
          <a:p>
            <a:r>
              <a:rPr lang="en-US" dirty="0">
                <a:solidFill>
                  <a:srgbClr val="000000"/>
                </a:solidFill>
              </a:rPr>
              <a:t>Clean frontend-backend separation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590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50EC-11D0-9B6A-319A-41FFE4FB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214" y="2920180"/>
            <a:ext cx="9283834" cy="13208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90050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</TotalTime>
  <Words>514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Trebuchet MS</vt:lpstr>
      <vt:lpstr>Wingdings</vt:lpstr>
      <vt:lpstr>Wingdings 3</vt:lpstr>
      <vt:lpstr>Facet</vt:lpstr>
      <vt:lpstr> </vt:lpstr>
      <vt:lpstr>Introduction</vt:lpstr>
      <vt:lpstr>Problem Statement</vt:lpstr>
      <vt:lpstr>Proposed Solution</vt:lpstr>
      <vt:lpstr>System Architecture</vt:lpstr>
      <vt:lpstr>Authentication Mechanism (JWT) </vt:lpstr>
      <vt:lpstr>Backend Modules </vt:lpstr>
      <vt:lpstr>Frontend Design</vt:lpstr>
      <vt:lpstr>WebSocket Working</vt:lpstr>
      <vt:lpstr>Database Schema</vt:lpstr>
      <vt:lpstr>Key Features</vt:lpstr>
      <vt:lpstr>Testing &amp; Results</vt:lpstr>
      <vt:lpstr>Technologies Used</vt:lpstr>
      <vt:lpstr>Advantages and Limitations</vt:lpstr>
      <vt:lpstr>Future Enhancements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Ginjala Meghana</dc:creator>
  <cp:lastModifiedBy>Ginjala Meghana</cp:lastModifiedBy>
  <cp:revision>2</cp:revision>
  <dcterms:created xsi:type="dcterms:W3CDTF">2026-02-19T14:27:53Z</dcterms:created>
  <dcterms:modified xsi:type="dcterms:W3CDTF">2026-02-20T10:56:00Z</dcterms:modified>
</cp:coreProperties>
</file>